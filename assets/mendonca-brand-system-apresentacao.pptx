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8765f73d7d402e" /><Relationship Type="http://schemas.openxmlformats.org/officeDocument/2006/relationships/extended-properties" Target="/docProps/app.xml" Id="R4bfa7e6a0a3f4ece" /><Relationship Type="http://schemas.openxmlformats.org/officeDocument/2006/relationships/officeDocument" Target="/ppt/presentation.xml" Id="R17ff009affe04d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39f156c8e64e26"/>
  </p:sldMasterIdLst>
  <p:notesMasterIdLst>
    <p:notesMasterId xmlns:r="http://schemas.openxmlformats.org/officeDocument/2006/relationships" r:id="Red5fa320ad644940"/>
  </p:notesMasterIdLst>
  <p:sldIdLst>
    <p:sldId xmlns:r="http://schemas.openxmlformats.org/officeDocument/2006/relationships" id="256" r:id="Rcbd4dd7039594083"/>
    <p:sldId xmlns:r="http://schemas.openxmlformats.org/officeDocument/2006/relationships" id="257" r:id="R43fe270567f54a94"/>
    <p:sldId xmlns:r="http://schemas.openxmlformats.org/officeDocument/2006/relationships" id="258" r:id="R90fc9cb914bd4c26"/>
    <p:sldId xmlns:r="http://schemas.openxmlformats.org/officeDocument/2006/relationships" id="259" r:id="Rd963df2f94fb4d3b"/>
    <p:sldId xmlns:r="http://schemas.openxmlformats.org/officeDocument/2006/relationships" id="260" r:id="R8999faa7ef0b4b6d"/>
    <p:sldId xmlns:r="http://schemas.openxmlformats.org/officeDocument/2006/relationships" id="261" r:id="R9567e4e0b3e04350"/>
    <p:sldId xmlns:r="http://schemas.openxmlformats.org/officeDocument/2006/relationships" id="262" r:id="R63e71d4c6ffa426e"/>
    <p:sldId xmlns:r="http://schemas.openxmlformats.org/officeDocument/2006/relationships" id="263" r:id="R27e5d4bb40cd4046"/>
    <p:sldId xmlns:r="http://schemas.openxmlformats.org/officeDocument/2006/relationships" id="264" r:id="R7c2cb57ac5474477"/>
    <p:sldId xmlns:r="http://schemas.openxmlformats.org/officeDocument/2006/relationships" id="265" r:id="R39b684fba8864b5b"/>
    <p:sldId xmlns:r="http://schemas.openxmlformats.org/officeDocument/2006/relationships" id="266" r:id="R9750de39c00b45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42ddaad02047fd" /><Relationship Type="http://schemas.openxmlformats.org/officeDocument/2006/relationships/slideMaster" Target="/ppt/slideMasters/slideMaster1.xml" Id="Rd239f156c8e64e26" /><Relationship Type="http://schemas.openxmlformats.org/officeDocument/2006/relationships/notesMaster" Target="/ppt/notesMasters/notesMaster1.xml" Id="Red5fa320ad644940" /><Relationship Type="http://schemas.openxmlformats.org/officeDocument/2006/relationships/presProps" Target="/ppt/presProps.xml" Id="R4983482c5e9f4383" /><Relationship Type="http://schemas.openxmlformats.org/officeDocument/2006/relationships/tableStyles" Target="/ppt/tableStyles.xml" Id="R02cecd75def24acf" /><Relationship Type="http://schemas.openxmlformats.org/officeDocument/2006/relationships/slide" Target="/ppt/slides/slide1.xml" Id="Rcbd4dd7039594083" /><Relationship Type="http://schemas.openxmlformats.org/officeDocument/2006/relationships/slide" Target="/ppt/slides/slide2.xml" Id="R43fe270567f54a94" /><Relationship Type="http://schemas.openxmlformats.org/officeDocument/2006/relationships/slide" Target="/ppt/slides/slide3.xml" Id="R90fc9cb914bd4c26" /><Relationship Type="http://schemas.openxmlformats.org/officeDocument/2006/relationships/slide" Target="/ppt/slides/slide4.xml" Id="Rd963df2f94fb4d3b" /><Relationship Type="http://schemas.openxmlformats.org/officeDocument/2006/relationships/slide" Target="/ppt/slides/slide5.xml" Id="R8999faa7ef0b4b6d" /><Relationship Type="http://schemas.openxmlformats.org/officeDocument/2006/relationships/slide" Target="/ppt/slides/slide6.xml" Id="R9567e4e0b3e04350" /><Relationship Type="http://schemas.openxmlformats.org/officeDocument/2006/relationships/slide" Target="/ppt/slides/slide7.xml" Id="R63e71d4c6ffa426e" /><Relationship Type="http://schemas.openxmlformats.org/officeDocument/2006/relationships/slide" Target="/ppt/slides/slide8.xml" Id="R27e5d4bb40cd4046" /><Relationship Type="http://schemas.openxmlformats.org/officeDocument/2006/relationships/slide" Target="/ppt/slides/slide9.xml" Id="R7c2cb57ac5474477" /><Relationship Type="http://schemas.openxmlformats.org/officeDocument/2006/relationships/slide" Target="/ppt/slides/slide10.xml" Id="R39b684fba8864b5b" /><Relationship Type="http://schemas.openxmlformats.org/officeDocument/2006/relationships/slide" Target="/ppt/slides/slide11.xml" Id="R9750de39c00b45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f145a49e5e4c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a68919aa4145a0" /><Relationship Type="http://schemas.openxmlformats.org/officeDocument/2006/relationships/notesMaster" Target="/ppt/notesMasters/notesMaster1.xml" Id="R37d035e7129a40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9a9f10c3c54077" /><Relationship Type="http://schemas.openxmlformats.org/officeDocument/2006/relationships/notesMaster" Target="/ppt/notesMasters/notesMaster1.xml" Id="R521a61e5ee3d47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1cd8f4b5074aa7" /><Relationship Type="http://schemas.openxmlformats.org/officeDocument/2006/relationships/notesMaster" Target="/ppt/notesMasters/notesMaster1.xml" Id="Rae18e6c59bd44e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094bb4c2954361" /><Relationship Type="http://schemas.openxmlformats.org/officeDocument/2006/relationships/notesMaster" Target="/ppt/notesMasters/notesMaster1.xml" Id="Rc18551e69ed545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80309e03964736" /><Relationship Type="http://schemas.openxmlformats.org/officeDocument/2006/relationships/notesMaster" Target="/ppt/notesMasters/notesMaster1.xml" Id="R876b9478bd6f48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800f1659bb4792" /><Relationship Type="http://schemas.openxmlformats.org/officeDocument/2006/relationships/notesMaster" Target="/ppt/notesMasters/notesMaster1.xml" Id="R91ec8e64090047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1ccb75511d43ce" /><Relationship Type="http://schemas.openxmlformats.org/officeDocument/2006/relationships/notesMaster" Target="/ppt/notesMasters/notesMaster1.xml" Id="Rfbb49e09d52945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e45b9046d44883" /><Relationship Type="http://schemas.openxmlformats.org/officeDocument/2006/relationships/notesMaster" Target="/ppt/notesMasters/notesMaster1.xml" Id="R32aed8f49da247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76033c524f457c" /><Relationship Type="http://schemas.openxmlformats.org/officeDocument/2006/relationships/notesMaster" Target="/ppt/notesMasters/notesMaster1.xml" Id="R39bb51d489d64f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1e4746a93f4c18" /><Relationship Type="http://schemas.openxmlformats.org/officeDocument/2006/relationships/notesMaster" Target="/ppt/notesMasters/notesMaster1.xml" Id="R230efc5e62744f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0ac51d75674f30" /><Relationship Type="http://schemas.openxmlformats.org/officeDocument/2006/relationships/notesMaster" Target="/ppt/notesMasters/notesMaster1.xml" Id="R17e8db88c84e49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portrait of Lucia Carla Mendonça.</a:t>
            </a:r>
          </a:p>
          <a:p xmlns:a="http://schemas.openxmlformats.org/drawingml/2006/main">
            <a:r>
              <a:t>- Brand architecture and narrative based on the user-provided project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 derived from the user-provided brand architecture and project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 derived from the user-provided brand architecture.</a:t>
            </a:r>
          </a:p>
          <a:p xmlns:a="http://schemas.openxmlformats.org/drawingml/2006/main">
            <a:r>
              <a:t>- 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Brand colors and visual DNA based on the user-approved logo system and project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Logos shown are user-approved generated brand marks for Mendonça Advocacia, Lucia Carla Mendonça Advocacia, and Clínica Geral da Advocacia.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portrait of Lucia Carla Mendonça.</a:t>
            </a:r>
          </a:p>
          <a:p xmlns:a="http://schemas.openxmlformats.org/drawingml/2006/main">
            <a:r>
              <a:t>- Narrative based on the user-defined role of Lucia as professional face and group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blank business-card family mockup created for this presentation.</a:t>
            </a:r>
          </a:p>
          <a:p xmlns:a="http://schemas.openxmlformats.org/drawingml/2006/main">
            <a:r>
              <a:t>- Card concept based on the user-provided stationery reference and approved brand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 based on the approved brand architecture and card-system concept.</a:t>
            </a:r>
          </a:p>
          <a:p xmlns:a="http://schemas.openxmlformats.org/drawingml/2006/main">
            <a:r>
              <a:t>- No external assets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 derived from the user-requested application scope: stationery, folders, presentations, websites, posts, and social covers.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Section names and scope based on the user-provided presentation structure.</a:t>
            </a:r>
          </a:p>
          <a:p xmlns:a="http://schemas.openxmlformats.org/drawingml/2006/main">
            <a:r>
              <a:t>- No external assets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Closing statement based on the user's requested goal: sell the brand system as a whole and begin with the business-card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8b0a4f37d48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a1799085c84908" /><Relationship Type="http://schemas.openxmlformats.org/officeDocument/2006/relationships/slideLayout" Target="/ppt/slideLayouts/slideLayout1.xml" Id="Rc65149d56f8d48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5149d56f8d48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1ce9cf32b4514" /><Relationship Type="http://schemas.openxmlformats.org/officeDocument/2006/relationships/image" Target="/ppt/media/image.png" Id="Rfa25180f13cb4348" /><Relationship Type="http://schemas.openxmlformats.org/officeDocument/2006/relationships/notesSlide" Target="/ppt/notesSlides/notesSlide1.xml" Id="R643a5b26d4ba4c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38bd6f5b44123" /><Relationship Type="http://schemas.openxmlformats.org/officeDocument/2006/relationships/notesSlide" Target="/ppt/notesSlides/notesSlide2.xml" Id="Re0763e7ed2ae40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42f003edf49bf" /><Relationship Type="http://schemas.openxmlformats.org/officeDocument/2006/relationships/notesSlide" Target="/ppt/notesSlides/notesSlide3.xml" Id="Ra32dda0c84ba42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91f7e5e6d49ba" /><Relationship Type="http://schemas.openxmlformats.org/officeDocument/2006/relationships/notesSlide" Target="/ppt/notesSlides/notesSlide4.xml" Id="R0e23ddf7bc5944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c0f9fa3e341b8" /><Relationship Type="http://schemas.openxmlformats.org/officeDocument/2006/relationships/image" Target="/ppt/media/image2.png" Id="R9c6851de60e64d4d" /><Relationship Type="http://schemas.openxmlformats.org/officeDocument/2006/relationships/image" Target="/ppt/media/image3.png" Id="Ra592d67e9b2a4e64" /><Relationship Type="http://schemas.openxmlformats.org/officeDocument/2006/relationships/image" Target="/ppt/media/image4.png" Id="Rc3d077c97b2a416b" /><Relationship Type="http://schemas.openxmlformats.org/officeDocument/2006/relationships/notesSlide" Target="/ppt/notesSlides/notesSlide5.xml" Id="Rda213c9e8a964b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193b2c2524d73" /><Relationship Type="http://schemas.openxmlformats.org/officeDocument/2006/relationships/image" Target="/ppt/media/image5.png" Id="R318c20bc6db74a9f" /><Relationship Type="http://schemas.openxmlformats.org/officeDocument/2006/relationships/notesSlide" Target="/ppt/notesSlides/notesSlide6.xml" Id="R76505aff08314d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515a9bbe647f1" /><Relationship Type="http://schemas.openxmlformats.org/officeDocument/2006/relationships/image" Target="/ppt/media/image6.png" Id="Rc5ffa8ef88b44fc7" /><Relationship Type="http://schemas.openxmlformats.org/officeDocument/2006/relationships/notesSlide" Target="/ppt/notesSlides/notesSlide7.xml" Id="R5fe7f65e760e4e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9f013e7d7423d" /><Relationship Type="http://schemas.openxmlformats.org/officeDocument/2006/relationships/notesSlide" Target="/ppt/notesSlides/notesSlide8.xml" Id="R78db13bea26641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7dda32a8a4c83" /><Relationship Type="http://schemas.openxmlformats.org/officeDocument/2006/relationships/notesSlide" Target="/ppt/notesSlides/notesSlide9.xml" Id="R16afa602bd3545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c8f2ffd16408a" /><Relationship Type="http://schemas.openxmlformats.org/officeDocument/2006/relationships/notesSlide" Target="/ppt/notesSlides/notesSlide10.xml" Id="R15a39c68d8a44f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399e8ff92428d" /><Relationship Type="http://schemas.openxmlformats.org/officeDocument/2006/relationships/notesSlide" Target="/ppt/notesSlides/notesSlide11.xml" Id="R9bc4caa91e9e4a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8600D-FF15-4668-94B6-52F0173C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2F7DE-9BB7-40FB-BE81-900A925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0"/>
            <a:ext cx="352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F4676-52BA-4205-9D5C-33153041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E8C12-FF3B-45C5-B636-1DD3B68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4A72C"/>
                </a:solidFill>
              </a:defRPr>
            </a:pPr>
            <a:r>
              <a:rPr sz="975" b="1" i="0">
                <a:solidFill>
                  <a:srgbClr val="D4A72C"/>
                </a:solidFill>
              </a:rPr>
              <a:t>PROPOSTA DE IDENTIDADE</a:t>
            </a:r>
          </a:p>
          <a:p xmlns:a="http://schemas.openxmlformats.org/drawingml/2006/main">
            <a:pPr algn="l">
              <a:defRPr sz="975" b="1" i="0">
                <a:solidFill>
                  <a:srgbClr val="D4A72C"/>
                </a:solidFill>
              </a:defRPr>
            </a:pPr>
            <a:r>
              <a:rPr sz="975" b="1" i="0">
                <a:solidFill>
                  <a:srgbClr val="D4A72C"/>
                </a:solidFill>
              </a:rPr>
              <a:t>E EXPERIÊNCIA DE MARCA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2E826-F744-4893-A4A4-76645C38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Mendonça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46C6A-A7BE-4DF4-97E2-7C531216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857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9E2EA"/>
                </a:solidFill>
              </a:defRPr>
            </a:pPr>
            <a:r>
              <a:rPr sz="1875" b="0" i="0">
                <a:solidFill>
                  <a:srgbClr val="D9E2EA"/>
                </a:solidFill>
              </a:rPr>
              <a:t>Um ecossistema de marcas para uma advocacia mais clara, humana e preparada para crescer.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9082E-ACB6-418F-8B7F-CD0C4DA9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DAAB7"/>
                </a:solidFill>
              </a:defRPr>
            </a:pPr>
            <a:r>
              <a:rPr sz="900" b="1" i="0">
                <a:solidFill>
                  <a:srgbClr val="9DAAB7"/>
                </a:solidFill>
              </a:rPr>
              <a:t>CONCEITO  /  ARQUITETURA  /  APLICAÇÕES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5180f13cb4348"/>
          <a:srcRect xmlns:a="http://schemas.openxmlformats.org/drawingml/2006/main" l="7250" t="0" r="7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0625" y="666750"/>
            <a:ext cx="2714625" cy="4762500"/>
          </a:xfrm>
          <a:prstGeom xmlns:a="http://schemas.openxmlformats.org/drawingml/2006/main" prst="roundRect">
            <a:avLst>
              <a:gd name="adj" fmla="val 771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46C26-75F7-4F2E-89B6-F7A4227C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67690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LÚCIA CARLA MENDONÇA</a:t>
            </a:r>
          </a:p>
        </p:txBody>
      </p:sp>
    </p:spTree>
    <p:extLst>
      <p:ext uri="{BB962C8B-B14F-4D97-AF65-F5344CB8AC3E}">
        <p14:creationId xmlns:p14="http://schemas.microsoft.com/office/powerpoint/2010/main" val="2093641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F1DD9-B029-4635-8018-39E58E57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8A18"/>
                </a:solidFill>
              </a:defRPr>
            </a:pPr>
            <a:r>
              <a:rPr sz="900" b="1" i="0">
                <a:solidFill>
                  <a:srgbClr val="B88A18"/>
                </a:solidFill>
              </a:rPr>
              <a:t>CONTEXTO E ECOSSISTEMA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E767B-C632-4C90-BCD1-2AE710C1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</a:defRPr>
            </a:pPr>
            <a:r>
              <a:rPr sz="2850" b="1" i="0">
                <a:solidFill>
                  <a:srgbClr val="0B1F3A"/>
                </a:solidFill>
              </a:rPr>
              <a:t>O desafio não é apenas visual.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3DFD2-590D-4F98-8F62-F9486D15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02D"/>
                </a:solidFill>
              </a:defRPr>
            </a:pPr>
            <a:r>
              <a:rPr sz="1800" b="0" i="0">
                <a:solidFill>
                  <a:srgbClr val="17202D"/>
                </a:solidFill>
              </a:rPr>
              <a:t>Três nomes já fazem parte da mesma operação. O próximo passo é transformar essa coexistência em uma arquitetura compreensível, reconhecível e preparada para crescer.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63C1F-3781-4E08-A883-8BDDA75E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61912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727F1-11EF-41A0-8E13-E436249F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552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 identidade precisa responder, com clareza:</a:t>
            </a:r>
          </a:p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quem somos, para quem existimos e em qual momento cada marca deve aparecer.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D3E65-8759-4940-950E-A671C635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3048000" cy="38481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0A84A-AA37-4EEF-8AB1-03748505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43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A"/>
                </a:solidFill>
              </a:defRPr>
            </a:pPr>
            <a:r>
              <a:rPr sz="1800" b="1" i="0">
                <a:solidFill>
                  <a:srgbClr val="0B1F3A"/>
                </a:solidFill>
              </a:rPr>
              <a:t>O sistema organiza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C4D45-7861-4E48-8D76-35EA4F5A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3DFD0-854E-4AB2-81A4-9FD32AB9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670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D"/>
                </a:solidFill>
              </a:defRPr>
            </a:pPr>
            <a:r>
              <a:rPr sz="1350" b="1" i="0">
                <a:solidFill>
                  <a:srgbClr val="17202D"/>
                </a:solidFill>
              </a:rPr>
              <a:t>a marca institucional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7586B-88CC-4478-83F4-283C4EF4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F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53404-2D63-4CB8-91AE-05CC8C1A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099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D"/>
                </a:solidFill>
              </a:defRPr>
            </a:pPr>
            <a:r>
              <a:rPr sz="1350" b="1" i="0">
                <a:solidFill>
                  <a:srgbClr val="17202D"/>
                </a:solidFill>
              </a:rPr>
              <a:t>a autoridade profissional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2B6E0-B03C-47D8-804A-12ACCC9F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696FF-1939-49E7-95C2-89D91197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529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D"/>
                </a:solidFill>
              </a:defRPr>
            </a:pPr>
            <a:r>
              <a:rPr sz="1350" b="1" i="0">
                <a:solidFill>
                  <a:srgbClr val="17202D"/>
                </a:solidFill>
              </a:rPr>
              <a:t>a nova frente de serviço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C5283-74B6-4F9A-A29B-EB96D52B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756F"/>
                </a:solidFill>
              </a:defRPr>
            </a:pPr>
            <a:r>
              <a:rPr sz="825" b="1" i="0">
                <a:solidFill>
                  <a:srgbClr val="6F756F"/>
                </a:solidFill>
              </a:rPr>
              <a:t>MENDONÇA  /  BRAND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91A70-0119-4EEF-A9C3-27A3E7B3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756F"/>
                </a:solidFill>
              </a:defRPr>
            </a:pPr>
            <a:r>
              <a:rPr sz="825" b="1" i="0">
                <a:solidFill>
                  <a:srgbClr val="6F756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28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B59E6-E886-4B0B-8719-414CB1FE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8A18"/>
                </a:solidFill>
              </a:defRPr>
            </a:pPr>
            <a:r>
              <a:rPr sz="900" b="1" i="0">
                <a:solidFill>
                  <a:srgbClr val="B88A18"/>
                </a:solidFill>
              </a:rPr>
              <a:t>BRAND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AF19B-7C8B-42EC-AA24-EE2569A7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</a:defRPr>
            </a:pPr>
            <a:r>
              <a:rPr sz="2850" b="1" i="0">
                <a:solidFill>
                  <a:srgbClr val="0B1F3A"/>
                </a:solidFill>
              </a:rPr>
              <a:t>Uma origem institucional. Três presenças.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35BE8-1D3B-4A2B-A64F-D01126CD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202D"/>
                </a:solidFill>
              </a:defRPr>
            </a:pPr>
            <a:r>
              <a:rPr sz="1575" b="0" i="0">
                <a:solidFill>
                  <a:srgbClr val="17202D"/>
                </a:solidFill>
              </a:rPr>
              <a:t>A arquitetura endossada distribui funções sem romper a confiança construída em torno do nome Mendonça.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47654-8E50-408B-A1F5-6306252F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E0860-B5E3-4A05-9242-CF0838CD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0050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0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8581F-4C4B-4216-AE06-E146FA9C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20365-63C2-4032-AF53-AB7BE877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005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6B220-93ED-4F3B-8307-3B96E2BB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005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DF53A-A04C-441C-A1A6-C871F10B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38350"/>
            <a:ext cx="409575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64955-F480-4E18-867A-BB8DA88E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57425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MENDONÇA ADVOCACIA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CEB32-B82C-49AC-8754-EB319CF6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09850"/>
            <a:ext cx="350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5DFE8"/>
                </a:solidFill>
              </a:defRPr>
            </a:pPr>
            <a:r>
              <a:rPr sz="1125" b="0" i="0">
                <a:solidFill>
                  <a:srgbClr val="D5DFE8"/>
                </a:solidFill>
              </a:rPr>
              <a:t>estrutura institucional e guarda-chuva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61A31-7C59-4C5D-9193-C14B8496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44767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1E7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7318A-823F-4DEF-BD67-8FB4D774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LÚCIA CARLA MENDONÇA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2B017-A6D7-43F1-8805-FC39F501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B86F4C"/>
                </a:solidFill>
              </a:defRPr>
            </a:pPr>
            <a:r>
              <a:rPr sz="1200" b="1" i="0">
                <a:solidFill>
                  <a:srgbClr val="B86F4C"/>
                </a:solidFill>
              </a:rPr>
              <a:t>autoridade e relação pessoal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EBAA9-2ABB-4AF1-A47A-B921D366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44767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EFF5"/>
          </a:solidFill>
          <a:ln xmlns:a="http://schemas.openxmlformats.org/drawingml/2006/main" w="9525">
            <a:solidFill>
              <a:srgbClr val="C8D8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44078-642A-4745-AA3B-13D8878B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529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A"/>
                </a:solidFill>
              </a:defRPr>
            </a:pPr>
            <a:r>
              <a:rPr sz="1575" b="1" i="0">
                <a:solidFill>
                  <a:srgbClr val="0B1F3A"/>
                </a:solidFill>
              </a:rPr>
              <a:t>CLÍNICA GERAL DA ADVOCACIA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45722-9591-4360-99B4-0624236C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33950"/>
            <a:ext cx="398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B88A18"/>
                </a:solidFill>
              </a:defRPr>
            </a:pPr>
            <a:r>
              <a:rPr sz="1200" b="1" i="0">
                <a:solidFill>
                  <a:srgbClr val="B88A18"/>
                </a:solidFill>
              </a:rPr>
              <a:t>acesso, orientação e serviço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0C8CB-A20C-43C3-886E-5D801357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756F"/>
                </a:solidFill>
              </a:defRPr>
            </a:pPr>
            <a:r>
              <a:rPr sz="825" b="1" i="0">
                <a:solidFill>
                  <a:srgbClr val="6F756F"/>
                </a:solidFill>
              </a:rPr>
              <a:t>MENDONÇA  /  BRAND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F2D76-479F-49B4-AFD3-DAC68373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756F"/>
                </a:solidFill>
              </a:defRPr>
            </a:pPr>
            <a:r>
              <a:rPr sz="825" b="1" i="0">
                <a:solidFill>
                  <a:srgbClr val="6F756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09376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D8F95F-D9A0-4BE5-916B-907F9E47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4A72C"/>
                </a:solidFill>
              </a:defRPr>
            </a:pPr>
            <a:r>
              <a:rPr sz="900" b="1" i="0">
                <a:solidFill>
                  <a:srgbClr val="D4A72C"/>
                </a:solidFill>
              </a:rPr>
              <a:t>SHARED BRAND STRATEGY + VISUAL DNA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BB44F-C443-4B2A-9C79-F5D39FE8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A mesma origem, com expressões próprias.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8F870-C694-4711-B8F7-05C8A01C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8EDF2"/>
                </a:solidFill>
              </a:defRPr>
            </a:pPr>
            <a:r>
              <a:rPr sz="1650" b="0" i="0">
                <a:solidFill>
                  <a:srgbClr val="E8EDF2"/>
                </a:solidFill>
              </a:rPr>
              <a:t>O sistema compartilha códigos suficientes para gerar reconhecimento, mas preserva diferenças suficientes para que cada marca tenha uma função clara.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504AF-E651-4271-8875-34A3E38B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7617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F4F81-D098-4F26-8832-DB87A7F9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DB3C7"/>
                </a:solidFill>
              </a:defRPr>
            </a:pPr>
            <a:r>
              <a:rPr sz="900" b="1" i="0">
                <a:solidFill>
                  <a:srgbClr val="9DB3C7"/>
                </a:solidFill>
              </a:rPr>
              <a:t>COMUM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3F2F0-2930-4C83-8DC0-A56E2D9B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48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símbolo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F9916-9356-48E7-8FCF-2C647C04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4DEE7"/>
                </a:solidFill>
              </a:defRPr>
            </a:pPr>
            <a:r>
              <a:rPr sz="1350" b="0" i="0">
                <a:solidFill>
                  <a:srgbClr val="D4DEE7"/>
                </a:solidFill>
              </a:rPr>
              <a:t>estrutura aberta, caminho e proteção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F623D-63D5-49FD-8623-5A908B25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DB3C7"/>
                </a:solidFill>
              </a:defRPr>
            </a:pPr>
            <a:r>
              <a:rPr sz="900" b="1" i="0">
                <a:solidFill>
                  <a:srgbClr val="9DB3C7"/>
                </a:solidFill>
              </a:rPr>
              <a:t>COMUM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D6E7D-16DF-4A55-B4C8-46CFBC95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38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tipografia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63F45-9A09-44FB-AEE5-498E532B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576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4DEE7"/>
                </a:solidFill>
              </a:defRPr>
            </a:pPr>
            <a:r>
              <a:rPr sz="1350" b="0" i="0">
                <a:solidFill>
                  <a:srgbClr val="D4DEE7"/>
                </a:solidFill>
              </a:rPr>
              <a:t>geometria contemporânea e legível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D150C-D510-4C8B-BEC8-617A2562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DB3C7"/>
                </a:solidFill>
              </a:defRPr>
            </a:pPr>
            <a:r>
              <a:rPr sz="900" b="1" i="0">
                <a:solidFill>
                  <a:srgbClr val="9DB3C7"/>
                </a:solidFill>
              </a:rPr>
              <a:t>COMUM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BA337-9CF3-4EDE-B0D1-3ED08E11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29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composição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A1636-7736-40CA-9EEA-1DECF28F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4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4DEE7"/>
                </a:solidFill>
              </a:defRPr>
            </a:pPr>
            <a:r>
              <a:rPr sz="1350" b="0" i="0">
                <a:solidFill>
                  <a:srgbClr val="D4DEE7"/>
                </a:solidFill>
              </a:rPr>
              <a:t>respiro, precisão e hierarquia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BCAA4-9B30-48BA-8667-C2CA19C8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4A72C"/>
                </a:solidFill>
              </a:defRPr>
            </a:pPr>
            <a:r>
              <a:rPr sz="900" b="1" i="0">
                <a:solidFill>
                  <a:srgbClr val="D4A72C"/>
                </a:solidFill>
              </a:rPr>
              <a:t>VARIA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688C7-6067-43D6-81BB-947D4C89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9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paleta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40A8E-7BDD-491B-AAF9-33C2F1AA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4DEE7"/>
                </a:solidFill>
              </a:defRPr>
            </a:pPr>
            <a:r>
              <a:rPr sz="1350" b="0" i="0">
                <a:solidFill>
                  <a:srgbClr val="D4DEE7"/>
                </a:solidFill>
              </a:rPr>
              <a:t>navy, marfim, branco, cobre e dourado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F95D5-00D8-4A07-B390-996C1C69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17526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6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8FB5A-E48A-4DFC-A548-BDD498B8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81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4FCA2-65E1-4467-A877-4361BA6E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81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5D3CC-B84C-4FD3-81EC-71E344D9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81550"/>
            <a:ext cx="2286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F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6549E-2F8E-469E-8435-4C8605BA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4A72C"/>
                </a:solidFill>
              </a:defRPr>
            </a:pPr>
            <a:r>
              <a:rPr sz="900" b="1" i="0">
                <a:solidFill>
                  <a:srgbClr val="D4A72C"/>
                </a:solidFill>
              </a:rPr>
              <a:t>DNA VISUAL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1E1498-2079-4CB6-BAC7-DA9A03C3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7C3CF"/>
                </a:solidFill>
              </a:defRPr>
            </a:pPr>
            <a:r>
              <a:rPr sz="825" b="1" i="0">
                <a:solidFill>
                  <a:srgbClr val="B7C3CF"/>
                </a:solidFill>
              </a:rPr>
              <a:t>MENDONÇA  /  BRAND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44320-62A4-487F-BECD-8CD5BC76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7C3CF"/>
                </a:solidFill>
              </a:defRPr>
            </a:pPr>
            <a:r>
              <a:rPr sz="825" b="1" i="0">
                <a:solidFill>
                  <a:srgbClr val="B7C3C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05206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8584E-22AB-4A5D-8217-8137C74B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8A18"/>
                </a:solidFill>
              </a:defRPr>
            </a:pPr>
            <a:r>
              <a:rPr sz="900" b="1" i="0">
                <a:solidFill>
                  <a:srgbClr val="B88A18"/>
                </a:solidFill>
              </a:rPr>
              <a:t>INDIVIDUAL BRAND IDENTITIES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138D5-EFAE-4203-957B-964A7FAC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</a:defRPr>
            </a:pPr>
            <a:r>
              <a:rPr sz="2850" b="1" i="0">
                <a:solidFill>
                  <a:srgbClr val="0B1F3A"/>
                </a:solidFill>
              </a:rPr>
              <a:t>Três marcas, três papéis claramente reconhecíveis.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09128-4202-4CB0-B639-DFE3B58D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202D"/>
                </a:solidFill>
              </a:defRPr>
            </a:pPr>
            <a:r>
              <a:rPr sz="1575" b="0" i="0">
                <a:solidFill>
                  <a:srgbClr val="17202D"/>
                </a:solidFill>
              </a:rPr>
              <a:t>A unidade nasce do sistema. A diferenciação nasce da função que cada marca cumpre na experiência do público.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5F751-39BB-4A82-8F56-910BE2EB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390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70B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851de60e64d4d"/>
          <a:stretch xmlns:a="http://schemas.openxmlformats.org/drawingml/2006/main"/>
        </p:blipFill>
        <p:spPr>
          <a:xfrm xmlns:a="http://schemas.openxmlformats.org/drawingml/2006/main">
            <a:off x="976530" y="2647950"/>
            <a:ext cx="2809440" cy="1581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76ED5-0287-49CC-A6A0-F4018415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INSTITUCIONAL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3DBD7-3E24-4886-BA54-C6F08858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4DEE7"/>
                </a:solidFill>
              </a:defRPr>
            </a:pPr>
            <a:r>
              <a:rPr sz="1125" b="0" i="0">
                <a:solidFill>
                  <a:srgbClr val="D4DEE7"/>
                </a:solidFill>
              </a:rPr>
              <a:t>estrutura e confiança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8433F-F404-4925-A57B-98153E43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3390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E7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2d67e9b2a4e64"/>
          <a:stretch xmlns:a="http://schemas.openxmlformats.org/drawingml/2006/main"/>
        </p:blipFill>
        <p:spPr>
          <a:xfrm xmlns:a="http://schemas.openxmlformats.org/drawingml/2006/main">
            <a:off x="4691280" y="2647950"/>
            <a:ext cx="2809440" cy="15811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48B18-39FE-4655-AA37-35EFEFC8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14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88A18"/>
                </a:solidFill>
              </a:defRPr>
            </a:pPr>
            <a:r>
              <a:rPr sz="825" b="1" i="0">
                <a:solidFill>
                  <a:srgbClr val="B88A18"/>
                </a:solidFill>
              </a:rPr>
              <a:t>PROFISSIONAL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8A121-FACC-4B71-B8CC-EDBB402E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33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F756F"/>
                </a:solidFill>
              </a:defRPr>
            </a:pPr>
            <a:r>
              <a:rPr sz="1125" b="0" i="0">
                <a:solidFill>
                  <a:srgbClr val="6F756F"/>
                </a:solidFill>
              </a:rPr>
              <a:t>experiência e autoridade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88325-98C8-4F71-B37E-86F2021A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3390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077c97b2a416b"/>
          <a:stretch xmlns:a="http://schemas.openxmlformats.org/drawingml/2006/main"/>
        </p:blipFill>
        <p:spPr>
          <a:xfrm xmlns:a="http://schemas.openxmlformats.org/drawingml/2006/main">
            <a:off x="8406030" y="2647950"/>
            <a:ext cx="2809440" cy="1581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43D47-6D87-4A68-9636-37D6AC4A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88A18"/>
                </a:solidFill>
              </a:defRPr>
            </a:pPr>
            <a:r>
              <a:rPr sz="825" b="1" i="0">
                <a:solidFill>
                  <a:srgbClr val="B88A18"/>
                </a:solidFill>
              </a:rPr>
              <a:t>SERVIÇO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7DEF5-5212-4E9C-BA13-CE2E6D75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33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F756F"/>
                </a:solidFill>
              </a:defRPr>
            </a:pPr>
            <a:r>
              <a:rPr sz="1125" b="0" i="0">
                <a:solidFill>
                  <a:srgbClr val="6F756F"/>
                </a:solidFill>
              </a:rPr>
              <a:t>acesso e orientação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3366F-C24A-49F0-B253-201C49E7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756F"/>
                </a:solidFill>
              </a:defRPr>
            </a:pPr>
            <a:r>
              <a:rPr sz="825" b="1" i="0">
                <a:solidFill>
                  <a:srgbClr val="6F756F"/>
                </a:solidFill>
              </a:rPr>
              <a:t>MENDONÇA  /  BRAND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62016-2B37-4D37-912F-0DA8B609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756F"/>
                </a:solidFill>
              </a:defRPr>
            </a:pPr>
            <a:r>
              <a:rPr sz="825" b="1" i="0">
                <a:solidFill>
                  <a:srgbClr val="6F756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37946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ABEFB-DB89-4574-A204-A3F2D09E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8A18"/>
                </a:solidFill>
              </a:defRPr>
            </a:pPr>
            <a:r>
              <a:rPr sz="900" b="1" i="0">
                <a:solidFill>
                  <a:srgbClr val="B88A18"/>
                </a:solidFill>
              </a:rPr>
              <a:t>FOUNDER &amp; SPOKESPERSON IMAGE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2B583-1639-4598-8316-6BDEADC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</a:defRPr>
            </a:pPr>
            <a:r>
              <a:rPr sz="2850" b="1" i="0">
                <a:solidFill>
                  <a:srgbClr val="0B1F3A"/>
                </a:solidFill>
              </a:rPr>
              <a:t>A marca ganha um rosto e escala.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c20bc6db74a9f"/>
          <a:srcRect xmlns:a="http://schemas.openxmlformats.org/drawingml/2006/main" l="424" t="0" r="4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495300"/>
            <a:ext cx="3714750" cy="56197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C3F6A-B427-446B-A92D-C796962D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42925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6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07DDB-F6A7-4029-9B9C-373A2574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A"/>
                </a:solidFill>
              </a:defRPr>
            </a:pPr>
            <a:r>
              <a:rPr sz="1875" b="1" i="0">
                <a:solidFill>
                  <a:srgbClr val="0B1F3A"/>
                </a:solidFill>
              </a:rPr>
              <a:t>LÚCIA CARLA MENDONÇA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CBF2D-ED49-4043-8432-435154A1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449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202D"/>
                </a:solidFill>
              </a:defRPr>
            </a:pPr>
            <a:r>
              <a:rPr sz="1575" b="0" i="0">
                <a:solidFill>
                  <a:srgbClr val="17202D"/>
                </a:solidFill>
              </a:rPr>
              <a:t>A presença da Lúcia funciona em dois níveis: como identidade profissional própria e como referência humana do Grupo.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6BE2F-2FA3-4551-AEE6-98DC62E9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6F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B0FF5-9669-4F91-B2CC-A48B45D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02D"/>
                </a:solidFill>
              </a:defRPr>
            </a:pPr>
            <a:r>
              <a:rPr sz="1275" b="0" i="0">
                <a:solidFill>
                  <a:srgbClr val="17202D"/>
                </a:solidFill>
              </a:rPr>
              <a:t>Na marca pessoal, ela é o centro da relação. No Grupo, ela atua como fundadora, liderança e fonte de confiança. Na Clínica, o serviço precisa continuar reconhecível mesmo quando a imagem pessoal não aparece.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059E6-CF56-4339-8BCE-60CF06D1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756F"/>
                </a:solidFill>
              </a:defRPr>
            </a:pPr>
            <a:r>
              <a:rPr sz="825" b="1" i="0">
                <a:solidFill>
                  <a:srgbClr val="6F756F"/>
                </a:solidFill>
              </a:rPr>
              <a:t>MENDONÇA  /  BRAND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AC8AE-AD10-4FE2-8474-B985B4DD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756F"/>
                </a:solidFill>
              </a:defRPr>
            </a:pPr>
            <a:r>
              <a:rPr sz="825" b="1" i="0">
                <a:solidFill>
                  <a:srgbClr val="6F756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4455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64822-192C-49D7-A718-02F46D66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8A18"/>
                </a:solidFill>
              </a:defRPr>
            </a:pPr>
            <a:r>
              <a:rPr sz="900" b="1" i="0">
                <a:solidFill>
                  <a:srgbClr val="B88A18"/>
                </a:solidFill>
              </a:rPr>
              <a:t>BRAND APPLICATIONS  /  CARTÃO DE VISITAS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F187A-15C4-478B-9B05-152C69EC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</a:defRPr>
            </a:pPr>
            <a:r>
              <a:rPr sz="2850" b="1" i="0">
                <a:solidFill>
                  <a:srgbClr val="0B1F3A"/>
                </a:solidFill>
              </a:rPr>
              <a:t>O cartão transforma a estratégia em experiência.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64627-7C9F-4DD4-A3B7-5B3EF7A1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286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02D"/>
                </a:solidFill>
              </a:defRPr>
            </a:pPr>
            <a:r>
              <a:rPr sz="1650" b="0" i="0">
                <a:solidFill>
                  <a:srgbClr val="17202D"/>
                </a:solidFill>
              </a:rPr>
              <a:t>A primeira aplicação física traduz a arquitetura de marcas em uma família coerente: a mesma construção, três formas de presença.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EFF58-12F8-409A-A4EB-DF4F0C8E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5105400" cy="16002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17C7F-6C6D-448B-BC70-D75E82A8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4A72C"/>
                </a:solidFill>
              </a:defRPr>
            </a:pPr>
            <a:r>
              <a:rPr sz="900" b="1" i="0">
                <a:solidFill>
                  <a:srgbClr val="D4A72C"/>
                </a:solidFill>
              </a:rPr>
              <a:t>FRENTE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C9D62-CBCD-45FC-9EC0-75742CF3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Reconhecimento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9BC68-B97F-4099-B84F-AD9D5F64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E1EA"/>
                </a:solidFill>
              </a:defRPr>
            </a:pPr>
            <a:r>
              <a:rPr sz="1275" b="0" i="0">
                <a:solidFill>
                  <a:srgbClr val="D7E1EA"/>
                </a:solidFill>
              </a:rPr>
              <a:t>símbolo, nome e presença visual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4EBEC-1BB2-472D-B75A-179B8F50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51054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7F0F2-65D8-4D41-86BF-0D5E7771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8A18"/>
                </a:solidFill>
              </a:defRPr>
            </a:pPr>
            <a:r>
              <a:rPr sz="825" b="1" i="0">
                <a:solidFill>
                  <a:srgbClr val="B88A18"/>
                </a:solidFill>
              </a:rPr>
              <a:t>VERSO  /  RELACIONAMENTO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0405A-B6B6-4D4F-8CC9-E6F26AC5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</a:defRPr>
            </a:pPr>
            <a:r>
              <a:rPr sz="1575" b="1" i="0">
                <a:solidFill>
                  <a:srgbClr val="0B1F3A"/>
                </a:solidFill>
              </a:rPr>
              <a:t>informações objetivas e contato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fa8ef88b44fc7"/>
          <a:srcRect xmlns:a="http://schemas.openxmlformats.org/drawingml/2006/main" l="13820" t="0" r="138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562100"/>
            <a:ext cx="5143500" cy="4000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363B6-DA79-4CB1-BDF9-433E8233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959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Uma estrutura compartilhada.</a:t>
            </a:r>
          </a:p>
          <a:p xmlns:a="http://schemas.openxmlformats.org/drawingml/2006/main">
            <a:pPr algn="ctr"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Uma presença ajustada a cada marca.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BF433-8676-45E6-A697-C82B0720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756F"/>
                </a:solidFill>
              </a:defRPr>
            </a:pPr>
            <a:r>
              <a:rPr sz="825" b="1" i="0">
                <a:solidFill>
                  <a:srgbClr val="6F756F"/>
                </a:solidFill>
              </a:rPr>
              <a:t>MENDONÇA  /  BRAND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411B3-80B1-4951-832C-B75BD1E4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756F"/>
                </a:solidFill>
              </a:defRPr>
            </a:pPr>
            <a:r>
              <a:rPr sz="825" b="1" i="0">
                <a:solidFill>
                  <a:srgbClr val="6F756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128194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E29287-6289-44B2-8066-2A9F14D4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8A18"/>
                </a:solidFill>
              </a:defRPr>
            </a:pPr>
            <a:r>
              <a:rPr sz="900" b="1" i="0">
                <a:solidFill>
                  <a:srgbClr val="B88A18"/>
                </a:solidFill>
              </a:rPr>
              <a:t>BRAND APPLICATIONS  /  SISTEMA DE CARTÕES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99F27-23B8-41A2-96A4-51EC64C4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</a:defRPr>
            </a:pPr>
            <a:r>
              <a:rPr sz="2850" b="1" i="0">
                <a:solidFill>
                  <a:srgbClr val="0B1F3A"/>
                </a:solidFill>
              </a:rPr>
              <a:t>A mesma estrutura se adapta a três momentos.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605BF-EC72-4D2F-B0B2-5DCC6835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202D"/>
                </a:solidFill>
              </a:defRPr>
            </a:pPr>
            <a:r>
              <a:rPr sz="1575" b="0" i="0">
                <a:solidFill>
                  <a:srgbClr val="17202D"/>
                </a:solidFill>
              </a:rPr>
              <a:t>O formato, a qualidade e a lógica de leitura permanecem consistentes. A função e a personalidade de cada marca orientam a aparência final.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0023F-305E-4812-8965-8869E86B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14325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36878-0475-4057-A1CE-25074B26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7EE60-C160-4BCF-A017-0A5DB007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3850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7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C3109-9628-450D-B8AF-8961402E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Mendonça Advocacia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FF2BB-2BD9-4F12-B04E-E90AF880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609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INSTITUCIONAL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3A8ED-1A10-4E48-B373-17C3EB7A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02D"/>
                </a:solidFill>
              </a:defRPr>
            </a:pPr>
            <a:r>
              <a:rPr sz="1275" b="0" i="0">
                <a:solidFill>
                  <a:srgbClr val="17202D"/>
                </a:solidFill>
              </a:rPr>
              <a:t>estrutura, confiança e pertencimento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BD516-A3F8-460C-B68A-5A5357DD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314325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6F1E7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E9C8C-DAF9-4EF5-BEE1-C1844570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90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F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E693-CD6A-481C-ADFB-D889BEAC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6F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ED474-B277-476B-9C62-EDE7080E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A"/>
                </a:solidFill>
              </a:defRPr>
            </a:pPr>
            <a:r>
              <a:rPr sz="1500" b="1" i="0">
                <a:solidFill>
                  <a:srgbClr val="0B1F3A"/>
                </a:solidFill>
              </a:rPr>
              <a:t>Lúcia Carla Mendonça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EC8AB-B9B4-4531-B313-2AADF0DD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2609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6F4C"/>
                </a:solidFill>
              </a:defRPr>
            </a:pPr>
            <a:r>
              <a:rPr sz="825" b="1" i="0">
                <a:solidFill>
                  <a:srgbClr val="B86F4C"/>
                </a:solidFill>
              </a:rPr>
              <a:t>PROFISSIONAL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76C10-1A1A-454D-B941-D952BB10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101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F756F"/>
                </a:solidFill>
              </a:defRPr>
            </a:pPr>
            <a:r>
              <a:rPr sz="1275" b="0" i="0">
                <a:solidFill>
                  <a:srgbClr val="6F756F"/>
                </a:solidFill>
              </a:rPr>
              <a:t>experiência, autoridade e proximidade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AD89A-F236-4437-8DFE-88662F00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314325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E9EFF5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F1B3B-EDD1-4990-B749-A22B0D98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90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9912A-FE49-4D59-B333-9E3CF74B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3850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7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062E8-5203-4870-B600-6DCECD2B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A"/>
                </a:solidFill>
              </a:defRPr>
            </a:pPr>
            <a:r>
              <a:rPr sz="1500" b="1" i="0">
                <a:solidFill>
                  <a:srgbClr val="0B1F3A"/>
                </a:solidFill>
              </a:rPr>
              <a:t>Clínica Geral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AB327-CE4A-479C-8C45-24F9955D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6700"/>
            <a:ext cx="2609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SERVIÇO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E32D99-A9E7-4DAC-A5F5-BAA1E194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01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F756F"/>
                </a:solidFill>
              </a:defRPr>
            </a:pPr>
            <a:r>
              <a:rPr sz="1275" b="0" i="0">
                <a:solidFill>
                  <a:srgbClr val="6F756F"/>
                </a:solidFill>
              </a:rPr>
              <a:t>clareza, acesso e orientação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798B4-336D-4210-AF1D-CCE443A7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17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7825E-6E7A-4DBE-BB91-1F434FFC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A"/>
                </a:solidFill>
              </a:defRPr>
            </a:pPr>
            <a:r>
              <a:rPr sz="1800" b="1" i="0">
                <a:solidFill>
                  <a:srgbClr val="0B1F3A"/>
                </a:solidFill>
              </a:rPr>
              <a:t>O cartão não repete a arquitetura. Ele torna a arquitetura reconhecível.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96A06F-C47F-4423-A8FF-07848EB8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756F"/>
                </a:solidFill>
              </a:defRPr>
            </a:pPr>
            <a:r>
              <a:rPr sz="825" b="1" i="0">
                <a:solidFill>
                  <a:srgbClr val="6F756F"/>
                </a:solidFill>
              </a:rPr>
              <a:t>MENDONÇA  /  BRAND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325DAD-BB5C-4C10-B268-4CE381F2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756F"/>
                </a:solidFill>
              </a:defRPr>
            </a:pPr>
            <a:r>
              <a:rPr sz="825" b="1" i="0">
                <a:solidFill>
                  <a:srgbClr val="6F756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000393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B57FF6-E082-44C5-97AE-92121EC7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4A72C"/>
                </a:solidFill>
              </a:defRPr>
            </a:pPr>
            <a:r>
              <a:rPr sz="900" b="1" i="0">
                <a:solidFill>
                  <a:srgbClr val="D4A72C"/>
                </a:solidFill>
              </a:rPr>
              <a:t>BRAND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CE5DD-9A1A-4639-88EE-64BFB3C3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O sistema cresce a partir do primeiro ponto de contato.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843FE-BEB5-41E5-821D-ED355A81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E8EDF2"/>
                </a:solidFill>
              </a:defRPr>
            </a:pPr>
            <a:r>
              <a:rPr sz="1575" b="0" i="0">
                <a:solidFill>
                  <a:srgbClr val="E8EDF2"/>
                </a:solidFill>
              </a:rPr>
              <a:t>Depois do cartão, a mesma lógica se desdobra em materiais que acompanham a jornada: apresentar, orientar, atender e manter relacionamento.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121FD-7202-4D2B-9457-18DF92E3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4A72C"/>
                </a:solidFill>
              </a:defRPr>
            </a:pPr>
            <a:r>
              <a:rPr sz="975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66B49-ECF4-4619-A790-DE990F27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E698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CD35C-8366-486E-9BFD-28AF0582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Papelaria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A6082-C5CD-4D12-854E-8E86CD33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3DEE8"/>
                </a:solidFill>
              </a:defRPr>
            </a:pPr>
            <a:r>
              <a:rPr sz="1275" b="0" i="0">
                <a:solidFill>
                  <a:srgbClr val="D3DEE8"/>
                </a:solidFill>
              </a:rPr>
              <a:t>papel timbrado, assinatura e pastas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15033-E0E8-487C-8323-165B3095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7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2AD46-2C1B-4640-85EB-3F86F915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67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4A72C"/>
                </a:solidFill>
              </a:defRPr>
            </a:pPr>
            <a:r>
              <a:rPr sz="975" b="1" i="0">
                <a:solidFill>
                  <a:srgbClr val="D4A72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A67B0-A6D2-4DC8-842D-63936A26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E698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A0BD9-4234-481E-A81A-B007B208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90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Apresentações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11F98-3709-4C85-9AEA-005751EA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4815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3DEE8"/>
                </a:solidFill>
              </a:defRPr>
            </a:pPr>
            <a:r>
              <a:rPr sz="1275" b="0" i="0">
                <a:solidFill>
                  <a:srgbClr val="D3DEE8"/>
                </a:solidFill>
              </a:rPr>
              <a:t>propostas, institucionais e comerciais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42FB0-C1AC-467B-84AF-CD20FF21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24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7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F60D9-2398-4A15-BB6B-2D7F2635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67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4A72C"/>
                </a:solidFill>
              </a:defRPr>
            </a:pPr>
            <a:r>
              <a:rPr sz="975" b="1" i="0">
                <a:solidFill>
                  <a:srgbClr val="D4A72C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CF27E-F7B4-4049-84C5-3E24EFC9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242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E69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0A48F-6F85-4DED-9F6E-4592AC78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90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Digital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AE160-959E-420E-8397-1D9CB472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4815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3DEE8"/>
                </a:solidFill>
              </a:defRPr>
            </a:pPr>
            <a:r>
              <a:rPr sz="1275" b="0" i="0">
                <a:solidFill>
                  <a:srgbClr val="D3DEE8"/>
                </a:solidFill>
              </a:rPr>
              <a:t>site, páginas de serviço e contato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F9442-06AF-4071-9FCA-5A933F27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24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7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60E58-B23E-4473-98F8-D15137D1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67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4A72C"/>
                </a:solidFill>
              </a:defRPr>
            </a:pPr>
            <a:r>
              <a:rPr sz="975" b="1" i="0">
                <a:solidFill>
                  <a:srgbClr val="D4A72C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32A1F-26FA-4F6B-AD0A-266510E2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242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E69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94F125-BF47-4DE3-9A1E-BA073026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90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Conteúdo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BBADF8-4559-4CA3-86BF-C26ED8B1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4815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3DEE8"/>
                </a:solidFill>
              </a:defRPr>
            </a:pPr>
            <a:r>
              <a:rPr sz="1275" b="0" i="0">
                <a:solidFill>
                  <a:srgbClr val="D3DEE8"/>
                </a:solidFill>
              </a:rPr>
              <a:t>posts, capas e presença social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347887-23F5-4E1F-9333-8C2BC43D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4A72C"/>
                </a:solidFill>
              </a:defRPr>
            </a:pPr>
            <a:r>
              <a:rPr sz="1800" b="1" i="0">
                <a:solidFill>
                  <a:srgbClr val="D4A72C"/>
                </a:solidFill>
              </a:rPr>
              <a:t>A consistência deixa de ser uma promessa e passa a ser percebida em cada contato.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AF20F7-99BA-4025-A773-443D7DDF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7C3CF"/>
                </a:solidFill>
              </a:defRPr>
            </a:pPr>
            <a:r>
              <a:rPr sz="825" b="1" i="0">
                <a:solidFill>
                  <a:srgbClr val="B7C3CF"/>
                </a:solidFill>
              </a:rPr>
              <a:t>MENDONÇA  /  BRAND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617BF-3DD6-4A68-8577-71A9EFBC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7C3CF"/>
                </a:solidFill>
              </a:defRPr>
            </a:pPr>
            <a:r>
              <a:rPr sz="825" b="1" i="0">
                <a:solidFill>
                  <a:srgbClr val="B7C3C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3853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38BE0F-1516-40A7-BD8C-A40610C8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8A18"/>
                </a:solidFill>
              </a:defRPr>
            </a:pPr>
            <a:r>
              <a:rPr sz="900" b="1" i="0">
                <a:solidFill>
                  <a:srgbClr val="B88A18"/>
                </a:solidFill>
              </a:rPr>
              <a:t>BRAND GUIDELINES AND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D1213-FE7B-4ADB-A3AF-64D9C134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</a:defRPr>
            </a:pPr>
            <a:r>
              <a:rPr sz="2850" b="1" i="0">
                <a:solidFill>
                  <a:srgbClr val="0B1F3A"/>
                </a:solidFill>
              </a:rPr>
              <a:t>A proposta conecta estratégia, expressão e execução.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EA105-D6EC-4AB7-B14C-80367EC9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202D"/>
                </a:solidFill>
              </a:defRPr>
            </a:pPr>
            <a:r>
              <a:rPr sz="1575" b="0" i="0">
                <a:solidFill>
                  <a:srgbClr val="17202D"/>
                </a:solidFill>
              </a:rPr>
              <a:t>O resultado é um sistema administrável: cada decisão de comunicação passa a ter um lugar, uma regra e uma relação clara com as outras marcas.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4BC37-AA9F-4A6E-9644-10FA0865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324100" cy="24574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4DE36-48DF-4272-9F09-5324A1DD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3241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FA6E9-3866-4256-93BF-1D0E03C2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1F3A"/>
                </a:solidFill>
              </a:defRPr>
            </a:pPr>
            <a:r>
              <a:rPr sz="900" b="1" i="0">
                <a:solidFill>
                  <a:srgbClr val="0B1F3A"/>
                </a:solidFill>
              </a:rPr>
              <a:t>ESTRATÉGIA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41BCF-E723-4BC7-8A53-91770A81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02D"/>
                </a:solidFill>
              </a:defRPr>
            </a:pPr>
            <a:r>
              <a:rPr sz="1200" b="1" i="0">
                <a:solidFill>
                  <a:srgbClr val="17202D"/>
                </a:solidFill>
              </a:rPr>
              <a:t>Contexto e ecossistema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D4CC7-E67C-45FF-AB48-BA0F2511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D"/>
                </a:solidFill>
              </a:defRPr>
            </a:pPr>
            <a:r>
              <a:rPr sz="1200" b="0" i="0">
                <a:solidFill>
                  <a:srgbClr val="17202D"/>
                </a:solidFill>
              </a:rPr>
              <a:t>Brand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2FA2E-EFE1-4009-88E0-6EE6D1E3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D"/>
                </a:solidFill>
              </a:defRPr>
            </a:pPr>
            <a:r>
              <a:rPr sz="1200" b="0" i="0">
                <a:solidFill>
                  <a:srgbClr val="17202D"/>
                </a:solidFill>
              </a:rPr>
              <a:t>Shared Brand Strategy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ED76A-C8ED-4389-AE94-71886194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D"/>
                </a:solidFill>
              </a:defRPr>
            </a:pPr>
            <a:r>
              <a:rPr sz="1200" b="0" i="0">
                <a:solidFill>
                  <a:srgbClr val="17202D"/>
                </a:solidFill>
              </a:rPr>
              <a:t>Individual Positioning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31605-743D-499C-8CB3-46014612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86050"/>
            <a:ext cx="2324100" cy="24574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4A241-F1C6-4E45-ACDD-0DA33D0B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86050"/>
            <a:ext cx="23241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6F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5D932-9FDF-4297-9AC5-A7A3EA8D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67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6F4C"/>
                </a:solidFill>
              </a:defRPr>
            </a:pPr>
            <a:r>
              <a:rPr sz="900" b="1" i="0">
                <a:solidFill>
                  <a:srgbClr val="B86F4C"/>
                </a:solidFill>
              </a:rPr>
              <a:t>IDENTIDADE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C3687-D987-4F31-A0D3-2D9B29BB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62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02D"/>
                </a:solidFill>
              </a:defRPr>
            </a:pPr>
            <a:r>
              <a:rPr sz="1200" b="1" i="0">
                <a:solidFill>
                  <a:srgbClr val="17202D"/>
                </a:solidFill>
              </a:rPr>
              <a:t>Shared Brand 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3705E-FF97-4A42-86DC-71020351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05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D"/>
                </a:solidFill>
              </a:defRPr>
            </a:pPr>
            <a:r>
              <a:rPr sz="1200" b="0" i="0">
                <a:solidFill>
                  <a:srgbClr val="17202D"/>
                </a:solidFill>
              </a:rPr>
              <a:t>Visual DNA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4CB93-860B-4EC5-B774-500BB575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48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D"/>
                </a:solidFill>
              </a:defRPr>
            </a:pPr>
            <a:r>
              <a:rPr sz="1200" b="0" i="0">
                <a:solidFill>
                  <a:srgbClr val="17202D"/>
                </a:solidFill>
              </a:rPr>
              <a:t>Individual Identities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C4701-B57F-4839-B4D9-6EFAD53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910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D"/>
                </a:solidFill>
              </a:defRPr>
            </a:pPr>
            <a:r>
              <a:rPr sz="1200" b="0" i="0">
                <a:solidFill>
                  <a:srgbClr val="17202D"/>
                </a:solidFill>
              </a:rPr>
              <a:t>Verbal Identity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C4978-62B9-43FA-84CD-5D3415F6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324100" cy="24574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7A02D-9924-4086-9B5F-652BB6E5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3241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A7FF7-E462-4AF1-8E16-53565DB4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8A18"/>
                </a:solidFill>
              </a:defRPr>
            </a:pPr>
            <a:r>
              <a:rPr sz="900" b="1" i="0">
                <a:solidFill>
                  <a:srgbClr val="B88A18"/>
                </a:solidFill>
              </a:rPr>
              <a:t>EXPERIÊNCIA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AB3AD-E043-48B9-8AFA-80A4764B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02D"/>
                </a:solidFill>
              </a:defRPr>
            </a:pPr>
            <a:r>
              <a:rPr sz="1200" b="1" i="0">
                <a:solidFill>
                  <a:srgbClr val="17202D"/>
                </a:solidFill>
              </a:rPr>
              <a:t>Image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FC182-D1C2-460F-9245-696F72A2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05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D"/>
                </a:solidFill>
              </a:defRPr>
            </a:pPr>
            <a:r>
              <a:rPr sz="1200" b="0" i="0">
                <a:solidFill>
                  <a:srgbClr val="17202D"/>
                </a:solidFill>
              </a:rPr>
              <a:t>Brand Applications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5F593-F6FC-45A1-9527-5C8CCF8F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48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D"/>
                </a:solidFill>
              </a:defRPr>
            </a:pPr>
            <a:r>
              <a:rPr sz="1200" b="0" i="0">
                <a:solidFill>
                  <a:srgbClr val="17202D"/>
                </a:solidFill>
              </a:rPr>
              <a:t>Digital Identity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54B0F9-42B3-4718-B988-181B7F27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D"/>
                </a:solidFill>
              </a:defRPr>
            </a:pPr>
            <a:r>
              <a:rPr sz="1200" b="0" i="0">
                <a:solidFill>
                  <a:srgbClr val="17202D"/>
                </a:solidFill>
              </a:rPr>
              <a:t>Web 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70D5B4-D340-4B32-BB8A-FB959DC9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2324100" cy="24574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F44B6-321B-4AA3-94E2-1E20BD6C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23241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D6F4E-644F-4EE3-A1F5-D5C7B455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67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02D"/>
                </a:solidFill>
              </a:defRPr>
            </a:pPr>
            <a:r>
              <a:rPr sz="900" b="1" i="0">
                <a:solidFill>
                  <a:srgbClr val="17202D"/>
                </a:solidFill>
              </a:rPr>
              <a:t>GOVERNANÇA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2B6F70-DB0F-4380-A7DA-FDB42293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62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02D"/>
                </a:solidFill>
              </a:defRPr>
            </a:pPr>
            <a:r>
              <a:rPr sz="1200" b="1" i="0">
                <a:solidFill>
                  <a:srgbClr val="17202D"/>
                </a:solidFill>
              </a:rPr>
              <a:t>Guidelines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271827-37DD-4E30-BDA9-CF4F15F9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D"/>
                </a:solidFill>
              </a:defRPr>
            </a:pPr>
            <a:r>
              <a:rPr sz="1200" b="0" i="0">
                <a:solidFill>
                  <a:srgbClr val="17202D"/>
                </a:solidFill>
              </a:rPr>
              <a:t>Endosso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BCF878-629D-45E0-A271-E7F7C775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48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D"/>
                </a:solidFill>
              </a:defRPr>
            </a:pPr>
            <a:r>
              <a:rPr sz="1200" b="0" i="0">
                <a:solidFill>
                  <a:srgbClr val="17202D"/>
                </a:solidFill>
              </a:rPr>
              <a:t>Hierarquia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A46699-7E9C-4972-8CEA-1261568F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910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D"/>
                </a:solidFill>
              </a:defRPr>
            </a:pPr>
            <a:r>
              <a:rPr sz="1200" b="0" i="0">
                <a:solidFill>
                  <a:srgbClr val="17202D"/>
                </a:solidFill>
              </a:rPr>
              <a:t>Consistência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98F9AA-B461-498D-B373-3C4A048E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17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B5A7EE-3397-4856-BC53-5CE38624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A"/>
                </a:solidFill>
              </a:defRPr>
            </a:pPr>
            <a:r>
              <a:rPr sz="1800" b="1" i="0">
                <a:solidFill>
                  <a:srgbClr val="0B1F3A"/>
                </a:solidFill>
              </a:rPr>
              <a:t>Um sistema de marca forte reduz improviso e aumenta reconhecimento.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CE886B-7201-4CEA-9FCB-F636AEBF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756F"/>
                </a:solidFill>
              </a:defRPr>
            </a:pPr>
            <a:r>
              <a:rPr sz="825" b="1" i="0">
                <a:solidFill>
                  <a:srgbClr val="6F756F"/>
                </a:solidFill>
              </a:rPr>
              <a:t>MENDONÇA  /  BRAND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FE4EFE-446D-466B-A7B8-D2C6A8C6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756F"/>
                </a:solidFill>
              </a:defRPr>
            </a:pPr>
            <a:r>
              <a:rPr sz="825" b="1" i="0">
                <a:solidFill>
                  <a:srgbClr val="6F756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80898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F7443-A40E-45ED-871E-2AAEB1D9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FA131-46BF-4327-B58D-9E23B52E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A próxima etapa é transformar o sistema em presença.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34562-F768-4F6C-8C9E-C9DF2114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8EDF2"/>
                </a:solidFill>
              </a:defRPr>
            </a:pPr>
            <a:r>
              <a:rPr sz="1650" b="0" i="0">
                <a:solidFill>
                  <a:srgbClr val="E8EDF2"/>
                </a:solidFill>
              </a:rPr>
              <a:t>Começamos pelo cartão de visitas porque ele sintetiza a proposta: uma mesma arquitetura, expressa com clareza em cada marca e pronta para se desdobrar em todos os pontos de contato.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B93D3-FEB7-4FDC-BF91-BBFE772D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2571750" cy="2571750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6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E8A26-14D5-49DD-A05C-1FE1FCA3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76450"/>
            <a:ext cx="1924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600" b="1" i="0">
                <a:solidFill>
                  <a:srgbClr val="0B1F3A"/>
                </a:solidFill>
              </a:defRPr>
            </a:pPr>
            <a:r>
              <a:rPr sz="9600" b="1" i="0">
                <a:solidFill>
                  <a:srgbClr val="0B1F3A"/>
                </a:solidFill>
              </a:rPr>
              <a:t>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59C34-4E99-45C6-9B1D-10C0ABA2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79ADB-4D22-46D9-8B41-2098C2FC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4A72C"/>
                </a:solidFill>
              </a:defRPr>
            </a:pPr>
            <a:r>
              <a:rPr sz="900" b="1" i="0">
                <a:solidFill>
                  <a:srgbClr val="D4A72C"/>
                </a:solidFill>
              </a:rPr>
              <a:t>ESTRUTURA  /  CLAREZA  /  CONFIANÇA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FA937-8F4B-4CE0-89AD-098829CE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7C3CF"/>
                </a:solidFill>
              </a:defRPr>
            </a:pPr>
            <a:r>
              <a:rPr sz="825" b="1" i="0">
                <a:solidFill>
                  <a:srgbClr val="B7C3CF"/>
                </a:solidFill>
              </a:rPr>
              <a:t>MENDONÇA  /  BRAND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E890B-42E8-42F1-BBE0-E8F8DBFC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7C3CF"/>
                </a:solidFill>
              </a:defRPr>
            </a:pPr>
            <a:r>
              <a:rPr sz="825" b="1" i="0">
                <a:solidFill>
                  <a:srgbClr val="B7C3C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37205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2026-09-01T16:54:24.8390000Z</dcterms:created>
  <dcterms:modified xsi:type="dcterms:W3CDTF">2026-09-01T16:54:24.8390000Z</dcterms:modified>
</coreProperties>
</file>